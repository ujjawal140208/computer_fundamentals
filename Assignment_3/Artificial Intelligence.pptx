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Squada One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ulfs Display" panose="020B0604020202020204" charset="0"/>
      <p:regular r:id="rId15"/>
    </p:embeddedFont>
    <p:embeddedFont>
      <p:font typeface="Montserrat" panose="020B0604020202020204" charset="0"/>
      <p:regular r:id="rId16"/>
    </p:embeddedFont>
    <p:embeddedFont>
      <p:font typeface="The Seasons" panose="020B0604020202020204" charset="0"/>
      <p:regular r:id="rId17"/>
    </p:embeddedFont>
    <p:embeddedFont>
      <p:font typeface="Big Shoulders Display Bold" panose="020B0604020202020204" charset="0"/>
      <p:regular r:id="rId18"/>
    </p:embeddedFont>
    <p:embeddedFont>
      <p:font typeface="Roboto" panose="020B0604020202020204" charset="0"/>
      <p:regular r:id="rId19"/>
    </p:embeddedFont>
    <p:embeddedFont>
      <p:font typeface="Gagalin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10" Type="http://schemas.openxmlformats.org/officeDocument/2006/relationships/image" Target="../media/image9.svg"/><Relationship Id="rId4" Type="http://schemas.openxmlformats.org/officeDocument/2006/relationships/image" Target="../media/image2.jpe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svg"/><Relationship Id="rId5" Type="http://schemas.openxmlformats.org/officeDocument/2006/relationships/image" Target="../media/image13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svg"/><Relationship Id="rId5" Type="http://schemas.openxmlformats.org/officeDocument/2006/relationships/image" Target="../media/image13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svg"/><Relationship Id="rId7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5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7.sv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6698" y="776273"/>
            <a:ext cx="16174604" cy="6081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2"/>
              </a:lnSpc>
            </a:pPr>
            <a:r>
              <a:rPr lang="en-US" sz="25766" u="sng" spc="-1159" dirty="0">
                <a:solidFill>
                  <a:srgbClr val="35DBFF">
                    <a:alpha val="86667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ARTIFICIAL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09425" y="6734180"/>
            <a:ext cx="13069151" cy="324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8"/>
              </a:lnSpc>
            </a:pPr>
            <a:r>
              <a:rPr lang="en-US" sz="6155" u="sng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Gagalin"/>
                <a:ea typeface="Gagalin"/>
                <a:cs typeface="Gagalin"/>
                <a:sym typeface="Gagalin"/>
              </a:rPr>
              <a:t>MADE BY- Ujjawal Tiwari</a:t>
            </a:r>
          </a:p>
          <a:p>
            <a:pPr algn="ctr">
              <a:lnSpc>
                <a:spcPts val="8618"/>
              </a:lnSpc>
            </a:pPr>
            <a:r>
              <a:rPr lang="en-US" sz="6155" u="sng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Gagalin"/>
                <a:ea typeface="Gagalin"/>
                <a:cs typeface="Gagalin"/>
                <a:sym typeface="Gagalin"/>
              </a:rPr>
              <a:t>Roll No: 2501730064</a:t>
            </a:r>
          </a:p>
          <a:p>
            <a:pPr algn="ctr">
              <a:lnSpc>
                <a:spcPts val="8618"/>
              </a:lnSpc>
            </a:pPr>
            <a:r>
              <a:rPr lang="en-US" sz="6155" u="sng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Gagalin"/>
                <a:ea typeface="Gagalin"/>
                <a:cs typeface="Gagalin"/>
                <a:sym typeface="Gagalin"/>
              </a:rPr>
              <a:t>Course: BTech-CSE-Ai/Ml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2963" y="1409505"/>
            <a:ext cx="7550674" cy="7125090"/>
          </a:xfrm>
          <a:custGeom>
            <a:avLst/>
            <a:gdLst/>
            <a:ahLst/>
            <a:cxnLst/>
            <a:rect l="l" t="t" r="r" b="b"/>
            <a:pathLst>
              <a:path w="7550674" h="7125090">
                <a:moveTo>
                  <a:pt x="0" y="0"/>
                </a:moveTo>
                <a:lnTo>
                  <a:pt x="7550674" y="0"/>
                </a:lnTo>
                <a:lnTo>
                  <a:pt x="7550674" y="7125090"/>
                </a:lnTo>
                <a:lnTo>
                  <a:pt x="0" y="712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42975" y="1668201"/>
            <a:ext cx="6607699" cy="660769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3333" r="-33333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1817733" y="0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854508" y="1466850"/>
            <a:ext cx="7726396" cy="125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9999" u="sng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ABOUT AI</a:t>
            </a:r>
          </a:p>
        </p:txBody>
      </p:sp>
      <p:sp>
        <p:nvSpPr>
          <p:cNvPr id="7" name="Freeform 7"/>
          <p:cNvSpPr/>
          <p:nvPr/>
        </p:nvSpPr>
        <p:spPr>
          <a:xfrm>
            <a:off x="5402506" y="0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717706" y="0"/>
            <a:ext cx="7315200" cy="1316736"/>
          </a:xfrm>
          <a:custGeom>
            <a:avLst/>
            <a:gdLst/>
            <a:ahLst/>
            <a:cxnLst/>
            <a:rect l="l" t="t" r="r" b="b"/>
            <a:pathLst>
              <a:path w="7315200" h="1316736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38008" y="8741279"/>
            <a:ext cx="11244197" cy="970034"/>
          </a:xfrm>
          <a:custGeom>
            <a:avLst/>
            <a:gdLst/>
            <a:ahLst/>
            <a:cxnLst/>
            <a:rect l="l" t="t" r="r" b="b"/>
            <a:pathLst>
              <a:path w="11244197" h="970034">
                <a:moveTo>
                  <a:pt x="0" y="0"/>
                </a:moveTo>
                <a:lnTo>
                  <a:pt x="11244197" y="0"/>
                </a:lnTo>
                <a:lnTo>
                  <a:pt x="11244197" y="970034"/>
                </a:lnTo>
                <a:lnTo>
                  <a:pt x="0" y="9700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51263" y="8741279"/>
            <a:ext cx="2433619" cy="2292026"/>
          </a:xfrm>
          <a:custGeom>
            <a:avLst/>
            <a:gdLst/>
            <a:ahLst/>
            <a:cxnLst/>
            <a:rect l="l" t="t" r="r" b="b"/>
            <a:pathLst>
              <a:path w="2433619" h="2292026">
                <a:moveTo>
                  <a:pt x="0" y="0"/>
                </a:moveTo>
                <a:lnTo>
                  <a:pt x="2433619" y="0"/>
                </a:lnTo>
                <a:lnTo>
                  <a:pt x="2433619" y="2292027"/>
                </a:lnTo>
                <a:lnTo>
                  <a:pt x="0" y="22920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176112" y="2768088"/>
            <a:ext cx="9083188" cy="576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5"/>
              </a:lnSpc>
              <a:spcBef>
                <a:spcPct val="0"/>
              </a:spcBef>
            </a:pPr>
            <a:r>
              <a:rPr lang="en-US" sz="3597">
                <a:solidFill>
                  <a:srgbClr val="0CC0DF"/>
                </a:solidFill>
                <a:latin typeface="The Seasons"/>
                <a:ea typeface="The Seasons"/>
                <a:cs typeface="The Seasons"/>
                <a:sym typeface="The Seasons"/>
              </a:rPr>
              <a:t>The ability of machines to perform tasks that</a:t>
            </a:r>
            <a:r>
              <a:rPr lang="en-US" sz="3597" u="none" strike="noStrike">
                <a:solidFill>
                  <a:srgbClr val="0CC0DF"/>
                </a:solidFill>
                <a:latin typeface="The Seasons"/>
                <a:ea typeface="The Seasons"/>
                <a:cs typeface="The Seasons"/>
                <a:sym typeface="The Seasons"/>
              </a:rPr>
              <a:t> typically require human intelligence, such as learning, reasoning, and problem-solving. </a:t>
            </a:r>
          </a:p>
          <a:p>
            <a:pPr marL="0" lvl="0" indent="0" algn="ctr">
              <a:lnSpc>
                <a:spcPts val="5035"/>
              </a:lnSpc>
              <a:spcBef>
                <a:spcPct val="0"/>
              </a:spcBef>
            </a:pPr>
            <a:r>
              <a:rPr lang="en-US" sz="3597" u="none" strike="noStrike">
                <a:solidFill>
                  <a:srgbClr val="0CC0DF"/>
                </a:solidFill>
                <a:latin typeface="The Seasons"/>
                <a:ea typeface="The Seasons"/>
                <a:cs typeface="The Seasons"/>
                <a:sym typeface="The Seasons"/>
              </a:rPr>
              <a:t>It works by enabling computers to perceive their environment, process data, and act to achieve goals, and it is a transformational technology used in many applications, from voice assistants to medical diagnoses.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24766"/>
            <a:ext cx="5964328" cy="5964328"/>
          </a:xfrm>
          <a:custGeom>
            <a:avLst/>
            <a:gdLst/>
            <a:ahLst/>
            <a:cxnLst/>
            <a:rect l="l" t="t" r="r" b="b"/>
            <a:pathLst>
              <a:path w="5964328" h="5964328">
                <a:moveTo>
                  <a:pt x="0" y="0"/>
                </a:moveTo>
                <a:lnTo>
                  <a:pt x="5964328" y="0"/>
                </a:lnTo>
                <a:lnTo>
                  <a:pt x="5964328" y="5964328"/>
                </a:lnTo>
                <a:lnTo>
                  <a:pt x="0" y="5964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02079" y="3924766"/>
            <a:ext cx="6102854" cy="6102854"/>
          </a:xfrm>
          <a:custGeom>
            <a:avLst/>
            <a:gdLst/>
            <a:ahLst/>
            <a:cxnLst/>
            <a:rect l="l" t="t" r="r" b="b"/>
            <a:pathLst>
              <a:path w="6102854" h="6102854">
                <a:moveTo>
                  <a:pt x="0" y="0"/>
                </a:moveTo>
                <a:lnTo>
                  <a:pt x="6102853" y="0"/>
                </a:lnTo>
                <a:lnTo>
                  <a:pt x="6102853" y="6102854"/>
                </a:lnTo>
                <a:lnTo>
                  <a:pt x="0" y="610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00140" y="5563650"/>
            <a:ext cx="4087681" cy="358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114"/>
              </a:lnSpc>
              <a:spcBef>
                <a:spcPct val="0"/>
              </a:spcBef>
            </a:pPr>
            <a:r>
              <a:rPr lang="en-US" sz="2938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Uses neural networks like CNNs, RNNs, LSTMs, and Transformers. Used in imaging, speech, and autonomous systems.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45489" y="4896589"/>
            <a:ext cx="5565310" cy="52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4135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DEEP LEARNING (DL)</a:t>
            </a:r>
          </a:p>
        </p:txBody>
      </p:sp>
      <p:sp>
        <p:nvSpPr>
          <p:cNvPr id="6" name="Freeform 6"/>
          <p:cNvSpPr/>
          <p:nvPr/>
        </p:nvSpPr>
        <p:spPr>
          <a:xfrm>
            <a:off x="12142683" y="3924766"/>
            <a:ext cx="6064348" cy="6064348"/>
          </a:xfrm>
          <a:custGeom>
            <a:avLst/>
            <a:gdLst/>
            <a:ahLst/>
            <a:cxnLst/>
            <a:rect l="l" t="t" r="r" b="b"/>
            <a:pathLst>
              <a:path w="6064348" h="6064348">
                <a:moveTo>
                  <a:pt x="0" y="0"/>
                </a:moveTo>
                <a:lnTo>
                  <a:pt x="6064347" y="0"/>
                </a:lnTo>
                <a:lnTo>
                  <a:pt x="6064347" y="6064348"/>
                </a:lnTo>
                <a:lnTo>
                  <a:pt x="0" y="6064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06046" y="2625706"/>
            <a:ext cx="11244197" cy="970034"/>
          </a:xfrm>
          <a:custGeom>
            <a:avLst/>
            <a:gdLst/>
            <a:ahLst/>
            <a:cxnLst/>
            <a:rect l="l" t="t" r="r" b="b"/>
            <a:pathLst>
              <a:path w="11244197" h="970034">
                <a:moveTo>
                  <a:pt x="0" y="0"/>
                </a:moveTo>
                <a:lnTo>
                  <a:pt x="11244197" y="0"/>
                </a:lnTo>
                <a:lnTo>
                  <a:pt x="11244197" y="970034"/>
                </a:lnTo>
                <a:lnTo>
                  <a:pt x="0" y="9700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284155" y="-290053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3173641" y="0"/>
            <a:ext cx="5114359" cy="3394075"/>
          </a:xfrm>
          <a:custGeom>
            <a:avLst/>
            <a:gdLst/>
            <a:ahLst/>
            <a:cxnLst/>
            <a:rect l="l" t="t" r="r" b="b"/>
            <a:pathLst>
              <a:path w="5114359" h="3394075">
                <a:moveTo>
                  <a:pt x="0" y="0"/>
                </a:moveTo>
                <a:lnTo>
                  <a:pt x="5114359" y="0"/>
                </a:lnTo>
                <a:lnTo>
                  <a:pt x="5114359" y="3394075"/>
                </a:lnTo>
                <a:lnTo>
                  <a:pt x="0" y="3394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02068" y="5954746"/>
            <a:ext cx="4960191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182"/>
              </a:lnSpc>
              <a:spcBef>
                <a:spcPct val="0"/>
              </a:spcBef>
            </a:pPr>
            <a:r>
              <a:rPr lang="en-US" sz="298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ML systems learn from data without being explicitly programmed. Types include supervised, unsupervised, and reinforcement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836" y="4691449"/>
            <a:ext cx="3835181" cy="1013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4237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MACHINE LEARNING (ML)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6046" y="266700"/>
            <a:ext cx="11075909" cy="240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KEY TECHNOLOGIES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81399" y="4709025"/>
            <a:ext cx="5986916" cy="100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3"/>
              </a:lnSpc>
            </a:pPr>
            <a:r>
              <a:rPr lang="en-US" sz="4135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NATURAL LANGUAGE PROCESSING (NLP)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5498" y="5705912"/>
            <a:ext cx="4738717" cy="3557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n-US" sz="3406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Helps machines understand human language. Used in chatbots, translation, and sentiment analysis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24766"/>
            <a:ext cx="5964328" cy="5964328"/>
          </a:xfrm>
          <a:custGeom>
            <a:avLst/>
            <a:gdLst/>
            <a:ahLst/>
            <a:cxnLst/>
            <a:rect l="l" t="t" r="r" b="b"/>
            <a:pathLst>
              <a:path w="5964328" h="5964328">
                <a:moveTo>
                  <a:pt x="0" y="0"/>
                </a:moveTo>
                <a:lnTo>
                  <a:pt x="5964328" y="0"/>
                </a:lnTo>
                <a:lnTo>
                  <a:pt x="5964328" y="5964328"/>
                </a:lnTo>
                <a:lnTo>
                  <a:pt x="0" y="59643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02079" y="3924766"/>
            <a:ext cx="6102854" cy="6102854"/>
          </a:xfrm>
          <a:custGeom>
            <a:avLst/>
            <a:gdLst/>
            <a:ahLst/>
            <a:cxnLst/>
            <a:rect l="l" t="t" r="r" b="b"/>
            <a:pathLst>
              <a:path w="6102854" h="6102854">
                <a:moveTo>
                  <a:pt x="0" y="0"/>
                </a:moveTo>
                <a:lnTo>
                  <a:pt x="6102853" y="0"/>
                </a:lnTo>
                <a:lnTo>
                  <a:pt x="6102853" y="6102854"/>
                </a:lnTo>
                <a:lnTo>
                  <a:pt x="0" y="610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92742" y="5900087"/>
            <a:ext cx="4480793" cy="3358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510"/>
              </a:lnSpc>
              <a:spcBef>
                <a:spcPct val="0"/>
              </a:spcBef>
            </a:pPr>
            <a:r>
              <a:rPr lang="en-US" sz="3221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Combines AI with sensors and controllers. Used in manufacturing, logistics, and healthcare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61345" y="4678172"/>
            <a:ext cx="5743588" cy="102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3"/>
              </a:lnSpc>
            </a:pPr>
            <a:r>
              <a:rPr lang="en-US" sz="4268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ROBOTICS &amp; AUTONOMOUS SYSTEMS</a:t>
            </a:r>
          </a:p>
        </p:txBody>
      </p:sp>
      <p:sp>
        <p:nvSpPr>
          <p:cNvPr id="6" name="Freeform 6"/>
          <p:cNvSpPr/>
          <p:nvPr/>
        </p:nvSpPr>
        <p:spPr>
          <a:xfrm>
            <a:off x="12104932" y="3963272"/>
            <a:ext cx="6064348" cy="6064348"/>
          </a:xfrm>
          <a:custGeom>
            <a:avLst/>
            <a:gdLst/>
            <a:ahLst/>
            <a:cxnLst/>
            <a:rect l="l" t="t" r="r" b="b"/>
            <a:pathLst>
              <a:path w="6064348" h="6064348">
                <a:moveTo>
                  <a:pt x="0" y="0"/>
                </a:moveTo>
                <a:lnTo>
                  <a:pt x="6064348" y="0"/>
                </a:lnTo>
                <a:lnTo>
                  <a:pt x="6064348" y="6064348"/>
                </a:lnTo>
                <a:lnTo>
                  <a:pt x="0" y="6064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06046" y="2625706"/>
            <a:ext cx="11244197" cy="970034"/>
          </a:xfrm>
          <a:custGeom>
            <a:avLst/>
            <a:gdLst/>
            <a:ahLst/>
            <a:cxnLst/>
            <a:rect l="l" t="t" r="r" b="b"/>
            <a:pathLst>
              <a:path w="11244197" h="970034">
                <a:moveTo>
                  <a:pt x="0" y="0"/>
                </a:moveTo>
                <a:lnTo>
                  <a:pt x="11244197" y="0"/>
                </a:lnTo>
                <a:lnTo>
                  <a:pt x="11244197" y="970034"/>
                </a:lnTo>
                <a:lnTo>
                  <a:pt x="0" y="9700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284155" y="-290053"/>
            <a:ext cx="6200384" cy="4114800"/>
          </a:xfrm>
          <a:custGeom>
            <a:avLst/>
            <a:gdLst/>
            <a:ahLst/>
            <a:cxnLst/>
            <a:rect l="l" t="t" r="r" b="b"/>
            <a:pathLst>
              <a:path w="6200384" h="4114800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3173641" y="0"/>
            <a:ext cx="5114359" cy="3394075"/>
          </a:xfrm>
          <a:custGeom>
            <a:avLst/>
            <a:gdLst/>
            <a:ahLst/>
            <a:cxnLst/>
            <a:rect l="l" t="t" r="r" b="b"/>
            <a:pathLst>
              <a:path w="5114359" h="3394075">
                <a:moveTo>
                  <a:pt x="0" y="0"/>
                </a:moveTo>
                <a:lnTo>
                  <a:pt x="5114359" y="0"/>
                </a:lnTo>
                <a:lnTo>
                  <a:pt x="5114359" y="3394075"/>
                </a:lnTo>
                <a:lnTo>
                  <a:pt x="0" y="3394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49097" y="6021429"/>
            <a:ext cx="5035951" cy="268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42"/>
              </a:lnSpc>
              <a:spcBef>
                <a:spcPct val="0"/>
              </a:spcBef>
            </a:pPr>
            <a:r>
              <a:rPr lang="en-US" sz="31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3101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terprets visual data such as images &amp; videos. Used in face recognition, medical imaging, and surveillance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722" y="4821635"/>
            <a:ext cx="5220884" cy="72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8"/>
              </a:lnSpc>
            </a:pPr>
            <a:r>
              <a:rPr lang="en-US" sz="5767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COMPUTER VISION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6046" y="448063"/>
            <a:ext cx="11075909" cy="2406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KEY TECHNOLOGIES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50282" y="4882385"/>
            <a:ext cx="6438949" cy="56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7"/>
              </a:lnSpc>
            </a:pPr>
            <a:r>
              <a:rPr lang="en-US" sz="4447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AI TOOLS &amp; PLATFORMS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9738" y="5886131"/>
            <a:ext cx="3960037" cy="2957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8"/>
              </a:lnSpc>
              <a:spcBef>
                <a:spcPct val="0"/>
              </a:spcBef>
            </a:pPr>
            <a:r>
              <a:rPr lang="en-US" sz="34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3412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ensorFlow, PyTorch, Scikit learn, AWS Sagemaker, Google Vertex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431764" y="1517489"/>
            <a:ext cx="4316078" cy="1376349"/>
          </a:xfrm>
          <a:custGeom>
            <a:avLst/>
            <a:gdLst/>
            <a:ahLst/>
            <a:cxnLst/>
            <a:rect l="l" t="t" r="r" b="b"/>
            <a:pathLst>
              <a:path w="4316078" h="1376349">
                <a:moveTo>
                  <a:pt x="0" y="0"/>
                </a:moveTo>
                <a:lnTo>
                  <a:pt x="4316077" y="0"/>
                </a:lnTo>
                <a:lnTo>
                  <a:pt x="4316077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5394162" y="7393162"/>
            <a:ext cx="4316078" cy="1376349"/>
          </a:xfrm>
          <a:custGeom>
            <a:avLst/>
            <a:gdLst/>
            <a:ahLst/>
            <a:cxnLst/>
            <a:rect l="l" t="t" r="r" b="b"/>
            <a:pathLst>
              <a:path w="4316078" h="1376349">
                <a:moveTo>
                  <a:pt x="0" y="0"/>
                </a:moveTo>
                <a:lnTo>
                  <a:pt x="4316077" y="0"/>
                </a:lnTo>
                <a:lnTo>
                  <a:pt x="4316077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18171" y="326997"/>
            <a:ext cx="8651658" cy="18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8"/>
              </a:lnSpc>
            </a:pPr>
            <a:r>
              <a:rPr lang="en-US" sz="7811" u="sng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USE OF AI </a:t>
            </a:r>
          </a:p>
          <a:p>
            <a:pPr algn="ctr">
              <a:lnSpc>
                <a:spcPts val="7108"/>
              </a:lnSpc>
            </a:pPr>
            <a:r>
              <a:rPr lang="en-US" sz="7811" u="sng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INDIA</a:t>
            </a:r>
          </a:p>
        </p:txBody>
      </p:sp>
      <p:sp>
        <p:nvSpPr>
          <p:cNvPr id="5" name="Freeform 5"/>
          <p:cNvSpPr/>
          <p:nvPr/>
        </p:nvSpPr>
        <p:spPr>
          <a:xfrm>
            <a:off x="3521901" y="1980808"/>
            <a:ext cx="11244197" cy="970034"/>
          </a:xfrm>
          <a:custGeom>
            <a:avLst/>
            <a:gdLst/>
            <a:ahLst/>
            <a:cxnLst/>
            <a:rect l="l" t="t" r="r" b="b"/>
            <a:pathLst>
              <a:path w="11244197" h="970034">
                <a:moveTo>
                  <a:pt x="0" y="0"/>
                </a:moveTo>
                <a:lnTo>
                  <a:pt x="11244198" y="0"/>
                </a:lnTo>
                <a:lnTo>
                  <a:pt x="11244198" y="970034"/>
                </a:lnTo>
                <a:lnTo>
                  <a:pt x="0" y="9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3175698"/>
            <a:ext cx="6954626" cy="6954626"/>
          </a:xfrm>
          <a:custGeom>
            <a:avLst/>
            <a:gdLst/>
            <a:ahLst/>
            <a:cxnLst/>
            <a:rect l="l" t="t" r="r" b="b"/>
            <a:pathLst>
              <a:path w="6954626" h="6954626">
                <a:moveTo>
                  <a:pt x="0" y="0"/>
                </a:moveTo>
                <a:lnTo>
                  <a:pt x="6954626" y="0"/>
                </a:lnTo>
                <a:lnTo>
                  <a:pt x="6954626" y="6954626"/>
                </a:lnTo>
                <a:lnTo>
                  <a:pt x="0" y="6954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2133931" y="3175698"/>
            <a:ext cx="6954626" cy="6954626"/>
          </a:xfrm>
          <a:custGeom>
            <a:avLst/>
            <a:gdLst/>
            <a:ahLst/>
            <a:cxnLst/>
            <a:rect l="l" t="t" r="r" b="b"/>
            <a:pathLst>
              <a:path w="6954626" h="6954626">
                <a:moveTo>
                  <a:pt x="0" y="0"/>
                </a:moveTo>
                <a:lnTo>
                  <a:pt x="6954626" y="0"/>
                </a:lnTo>
                <a:lnTo>
                  <a:pt x="6954626" y="6954626"/>
                </a:lnTo>
                <a:lnTo>
                  <a:pt x="0" y="6954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3228505" y="6903720"/>
            <a:ext cx="7315200" cy="594360"/>
          </a:xfrm>
          <a:custGeom>
            <a:avLst/>
            <a:gdLst/>
            <a:ahLst/>
            <a:cxnLst/>
            <a:rect l="l" t="t" r="r" b="b"/>
            <a:pathLst>
              <a:path w="7315200" h="594360">
                <a:moveTo>
                  <a:pt x="0" y="0"/>
                </a:moveTo>
                <a:lnTo>
                  <a:pt x="7315200" y="0"/>
                </a:lnTo>
                <a:lnTo>
                  <a:pt x="731520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94371" y="4208420"/>
            <a:ext cx="6974199" cy="71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sz="5730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APOLLO HOSPITALS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6667" y="4215508"/>
            <a:ext cx="7709153" cy="71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5728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INDIAN RAILWAYS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5950" y="5057775"/>
            <a:ext cx="6290587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39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PREDICTIVE MAINTENANCE AI PREDICTS ENGINE FAILURES USING VIBRATION AND TEMPERATURE DATA.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26423" y="5409060"/>
            <a:ext cx="5110093" cy="349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39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PROHEALTH AI PREDICTS DISEASES EARLY AND CREATES PERSONALISED PLANS.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14191780" y="2878518"/>
            <a:ext cx="7315200" cy="594360"/>
          </a:xfrm>
          <a:custGeom>
            <a:avLst/>
            <a:gdLst/>
            <a:ahLst/>
            <a:cxnLst/>
            <a:rect l="l" t="t" r="r" b="b"/>
            <a:pathLst>
              <a:path w="7315200" h="594360">
                <a:moveTo>
                  <a:pt x="0" y="0"/>
                </a:moveTo>
                <a:lnTo>
                  <a:pt x="7315200" y="0"/>
                </a:lnTo>
                <a:lnTo>
                  <a:pt x="731520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1062550">
            <a:off x="15296392" y="494436"/>
            <a:ext cx="1567634" cy="2456406"/>
          </a:xfrm>
          <a:custGeom>
            <a:avLst/>
            <a:gdLst/>
            <a:ahLst/>
            <a:cxnLst/>
            <a:rect l="l" t="t" r="r" b="b"/>
            <a:pathLst>
              <a:path w="1567634" h="2456406">
                <a:moveTo>
                  <a:pt x="0" y="0"/>
                </a:moveTo>
                <a:lnTo>
                  <a:pt x="1567634" y="0"/>
                </a:lnTo>
                <a:lnTo>
                  <a:pt x="1567634" y="2456406"/>
                </a:lnTo>
                <a:lnTo>
                  <a:pt x="0" y="2456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431764" y="1517489"/>
            <a:ext cx="4316078" cy="1376349"/>
          </a:xfrm>
          <a:custGeom>
            <a:avLst/>
            <a:gdLst/>
            <a:ahLst/>
            <a:cxnLst/>
            <a:rect l="l" t="t" r="r" b="b"/>
            <a:pathLst>
              <a:path w="4316078" h="1376349">
                <a:moveTo>
                  <a:pt x="0" y="0"/>
                </a:moveTo>
                <a:lnTo>
                  <a:pt x="4316077" y="0"/>
                </a:lnTo>
                <a:lnTo>
                  <a:pt x="4316077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5394162" y="7393162"/>
            <a:ext cx="4316078" cy="1376349"/>
          </a:xfrm>
          <a:custGeom>
            <a:avLst/>
            <a:gdLst/>
            <a:ahLst/>
            <a:cxnLst/>
            <a:rect l="l" t="t" r="r" b="b"/>
            <a:pathLst>
              <a:path w="4316078" h="1376349">
                <a:moveTo>
                  <a:pt x="0" y="0"/>
                </a:moveTo>
                <a:lnTo>
                  <a:pt x="4316077" y="0"/>
                </a:lnTo>
                <a:lnTo>
                  <a:pt x="4316077" y="1376349"/>
                </a:lnTo>
                <a:lnTo>
                  <a:pt x="0" y="137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18171" y="326997"/>
            <a:ext cx="9017049" cy="186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8"/>
              </a:lnSpc>
            </a:pPr>
            <a:r>
              <a:rPr lang="en-US" sz="7811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USE OF AI </a:t>
            </a:r>
          </a:p>
          <a:p>
            <a:pPr algn="ctr">
              <a:lnSpc>
                <a:spcPts val="7108"/>
              </a:lnSpc>
            </a:pPr>
            <a:r>
              <a:rPr lang="en-US" sz="7811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INTERNATIONAL</a:t>
            </a:r>
          </a:p>
        </p:txBody>
      </p:sp>
      <p:sp>
        <p:nvSpPr>
          <p:cNvPr id="5" name="Freeform 5"/>
          <p:cNvSpPr/>
          <p:nvPr/>
        </p:nvSpPr>
        <p:spPr>
          <a:xfrm>
            <a:off x="3521901" y="1980808"/>
            <a:ext cx="11244197" cy="970034"/>
          </a:xfrm>
          <a:custGeom>
            <a:avLst/>
            <a:gdLst/>
            <a:ahLst/>
            <a:cxnLst/>
            <a:rect l="l" t="t" r="r" b="b"/>
            <a:pathLst>
              <a:path w="11244197" h="970034">
                <a:moveTo>
                  <a:pt x="0" y="0"/>
                </a:moveTo>
                <a:lnTo>
                  <a:pt x="11244198" y="0"/>
                </a:lnTo>
                <a:lnTo>
                  <a:pt x="11244198" y="970034"/>
                </a:lnTo>
                <a:lnTo>
                  <a:pt x="0" y="970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3175698"/>
            <a:ext cx="6954626" cy="6954626"/>
          </a:xfrm>
          <a:custGeom>
            <a:avLst/>
            <a:gdLst/>
            <a:ahLst/>
            <a:cxnLst/>
            <a:rect l="l" t="t" r="r" b="b"/>
            <a:pathLst>
              <a:path w="6954626" h="6954626">
                <a:moveTo>
                  <a:pt x="0" y="0"/>
                </a:moveTo>
                <a:lnTo>
                  <a:pt x="6954626" y="0"/>
                </a:lnTo>
                <a:lnTo>
                  <a:pt x="6954626" y="6954626"/>
                </a:lnTo>
                <a:lnTo>
                  <a:pt x="0" y="6954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2133931" y="3175698"/>
            <a:ext cx="6954626" cy="6954626"/>
          </a:xfrm>
          <a:custGeom>
            <a:avLst/>
            <a:gdLst/>
            <a:ahLst/>
            <a:cxnLst/>
            <a:rect l="l" t="t" r="r" b="b"/>
            <a:pathLst>
              <a:path w="6954626" h="6954626">
                <a:moveTo>
                  <a:pt x="0" y="0"/>
                </a:moveTo>
                <a:lnTo>
                  <a:pt x="6954626" y="0"/>
                </a:lnTo>
                <a:lnTo>
                  <a:pt x="6954626" y="6954626"/>
                </a:lnTo>
                <a:lnTo>
                  <a:pt x="0" y="6954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-3228505" y="6903720"/>
            <a:ext cx="7315200" cy="594360"/>
          </a:xfrm>
          <a:custGeom>
            <a:avLst/>
            <a:gdLst/>
            <a:ahLst/>
            <a:cxnLst/>
            <a:rect l="l" t="t" r="r" b="b"/>
            <a:pathLst>
              <a:path w="7315200" h="594360">
                <a:moveTo>
                  <a:pt x="0" y="0"/>
                </a:moveTo>
                <a:lnTo>
                  <a:pt x="7315200" y="0"/>
                </a:lnTo>
                <a:lnTo>
                  <a:pt x="731520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4191780" y="2878518"/>
            <a:ext cx="7315200" cy="594360"/>
          </a:xfrm>
          <a:custGeom>
            <a:avLst/>
            <a:gdLst/>
            <a:ahLst/>
            <a:cxnLst/>
            <a:rect l="l" t="t" r="r" b="b"/>
            <a:pathLst>
              <a:path w="7315200" h="594360">
                <a:moveTo>
                  <a:pt x="0" y="0"/>
                </a:moveTo>
                <a:lnTo>
                  <a:pt x="7315200" y="0"/>
                </a:lnTo>
                <a:lnTo>
                  <a:pt x="731520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062550">
            <a:off x="15296392" y="494436"/>
            <a:ext cx="1567634" cy="2456406"/>
          </a:xfrm>
          <a:custGeom>
            <a:avLst/>
            <a:gdLst/>
            <a:ahLst/>
            <a:cxnLst/>
            <a:rect l="l" t="t" r="r" b="b"/>
            <a:pathLst>
              <a:path w="1567634" h="2456406">
                <a:moveTo>
                  <a:pt x="0" y="0"/>
                </a:moveTo>
                <a:lnTo>
                  <a:pt x="1567634" y="0"/>
                </a:lnTo>
                <a:lnTo>
                  <a:pt x="1567634" y="2456406"/>
                </a:lnTo>
                <a:lnTo>
                  <a:pt x="0" y="2456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294371" y="4208420"/>
            <a:ext cx="6974199" cy="715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4"/>
              </a:lnSpc>
            </a:pPr>
            <a:r>
              <a:rPr lang="en-US" sz="5730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AMAZON LOGISTICS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6667" y="4215508"/>
            <a:ext cx="7709153" cy="71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5728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 TESLA AUTOPILOT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0882" y="5409060"/>
            <a:ext cx="5220725" cy="3497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39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USES NEURAL NETWORKS AND COMPUTER VISION FOR AUTONOMOUS DRIVING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01567" y="5057775"/>
            <a:ext cx="5559805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39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AI OPTIMISES DELIVERY ROUTES, ROBOTS, AND DEMAND FORECASTING.</a:t>
            </a:r>
          </a:p>
          <a:p>
            <a:pPr algn="ctr">
              <a:lnSpc>
                <a:spcPts val="5546"/>
              </a:lnSpc>
              <a:spcBef>
                <a:spcPct val="0"/>
              </a:spcBef>
            </a:pPr>
            <a:r>
              <a:rPr lang="en-US" sz="39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EVEN THE SUGGESTION ARE MAINTAINED BY 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5801" y="268288"/>
            <a:ext cx="18373801" cy="1492871"/>
          </a:xfrm>
          <a:custGeom>
            <a:avLst/>
            <a:gdLst/>
            <a:ahLst/>
            <a:cxnLst/>
            <a:rect l="l" t="t" r="r" b="b"/>
            <a:pathLst>
              <a:path w="18373801" h="1492871">
                <a:moveTo>
                  <a:pt x="0" y="0"/>
                </a:moveTo>
                <a:lnTo>
                  <a:pt x="18373801" y="0"/>
                </a:lnTo>
                <a:lnTo>
                  <a:pt x="18373801" y="1492871"/>
                </a:lnTo>
                <a:lnTo>
                  <a:pt x="0" y="149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2114" y="534988"/>
            <a:ext cx="17343771" cy="125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999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Gulfs Display"/>
                <a:ea typeface="Gulfs Display"/>
                <a:cs typeface="Gulfs Display"/>
                <a:sym typeface="Gulfs Display"/>
              </a:rPr>
              <a:t>CAREER OPPORTUNITIES</a:t>
            </a:r>
          </a:p>
        </p:txBody>
      </p:sp>
      <p:sp>
        <p:nvSpPr>
          <p:cNvPr id="4" name="Freeform 4"/>
          <p:cNvSpPr/>
          <p:nvPr/>
        </p:nvSpPr>
        <p:spPr>
          <a:xfrm>
            <a:off x="5443500" y="1761159"/>
            <a:ext cx="7315200" cy="571916"/>
          </a:xfrm>
          <a:custGeom>
            <a:avLst/>
            <a:gdLst/>
            <a:ahLst/>
            <a:cxnLst/>
            <a:rect l="l" t="t" r="r" b="b"/>
            <a:pathLst>
              <a:path w="7315200" h="571916">
                <a:moveTo>
                  <a:pt x="0" y="0"/>
                </a:moveTo>
                <a:lnTo>
                  <a:pt x="7315200" y="0"/>
                </a:lnTo>
                <a:lnTo>
                  <a:pt x="7315200" y="571916"/>
                </a:lnTo>
                <a:lnTo>
                  <a:pt x="0" y="571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3024740"/>
            <a:ext cx="6212064" cy="6166885"/>
          </a:xfrm>
          <a:custGeom>
            <a:avLst/>
            <a:gdLst/>
            <a:ahLst/>
            <a:cxnLst/>
            <a:rect l="l" t="t" r="r" b="b"/>
            <a:pathLst>
              <a:path w="6212064" h="6166885">
                <a:moveTo>
                  <a:pt x="0" y="0"/>
                </a:moveTo>
                <a:lnTo>
                  <a:pt x="6212064" y="0"/>
                </a:lnTo>
                <a:lnTo>
                  <a:pt x="6212064" y="6166885"/>
                </a:lnTo>
                <a:lnTo>
                  <a:pt x="0" y="6166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37968" y="4356763"/>
            <a:ext cx="6212064" cy="6166885"/>
          </a:xfrm>
          <a:custGeom>
            <a:avLst/>
            <a:gdLst/>
            <a:ahLst/>
            <a:cxnLst/>
            <a:rect l="l" t="t" r="r" b="b"/>
            <a:pathLst>
              <a:path w="6212064" h="6166885">
                <a:moveTo>
                  <a:pt x="0" y="0"/>
                </a:moveTo>
                <a:lnTo>
                  <a:pt x="6212064" y="0"/>
                </a:lnTo>
                <a:lnTo>
                  <a:pt x="6212064" y="6166886"/>
                </a:lnTo>
                <a:lnTo>
                  <a:pt x="0" y="6166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75936" y="3024740"/>
            <a:ext cx="6212064" cy="6166885"/>
          </a:xfrm>
          <a:custGeom>
            <a:avLst/>
            <a:gdLst/>
            <a:ahLst/>
            <a:cxnLst/>
            <a:rect l="l" t="t" r="r" b="b"/>
            <a:pathLst>
              <a:path w="6212064" h="6166885">
                <a:moveTo>
                  <a:pt x="0" y="0"/>
                </a:moveTo>
                <a:lnTo>
                  <a:pt x="6212064" y="0"/>
                </a:lnTo>
                <a:lnTo>
                  <a:pt x="6212064" y="6166885"/>
                </a:lnTo>
                <a:lnTo>
                  <a:pt x="0" y="6166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374272" y="3703959"/>
            <a:ext cx="6960609" cy="6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</a:pPr>
            <a:r>
              <a:rPr lang="en-US" sz="5172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HIGH-DEMAND ROLES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89423" y="4860551"/>
            <a:ext cx="7709153" cy="71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5728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SKILLS REQUIRED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1664" y="3799210"/>
            <a:ext cx="6960609" cy="124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6"/>
              </a:lnSpc>
            </a:pPr>
            <a:r>
              <a:rPr lang="en-US" sz="5172" u="sng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Squada One"/>
                <a:ea typeface="Squada One"/>
                <a:cs typeface="Squada One"/>
                <a:sym typeface="Squada One"/>
              </a:rPr>
              <a:t>INDUSTRIES HIRING AI PROFESSIONALS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033" y="4631951"/>
            <a:ext cx="4749998" cy="322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AI ENGINEER</a:t>
            </a:r>
          </a:p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MACHINE LEARNING ENGINEER</a:t>
            </a:r>
          </a:p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DATA SCIENTIST</a:t>
            </a:r>
          </a:p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COMPUTER VISION ENGINEER</a:t>
            </a:r>
          </a:p>
          <a:p>
            <a:pPr algn="ctr">
              <a:lnSpc>
                <a:spcPts val="5161"/>
              </a:lnSpc>
              <a:spcBef>
                <a:spcPct val="0"/>
              </a:spcBef>
            </a:pPr>
            <a:r>
              <a:rPr lang="en-US" sz="3686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NLP ENGINEER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3130" y="5721724"/>
            <a:ext cx="4961741" cy="380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PYTHON (NUMPY, PANDAS, SCIKIT-LEARN)</a:t>
            </a:r>
          </a:p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NEURAL NETWORKS, DEEP LEARNING</a:t>
            </a:r>
          </a:p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DATA ANALYSIS &amp; VISUALIZATION</a:t>
            </a:r>
          </a:p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MATHEMATICS: LINEAR ALGEBRA, STATISTICS</a:t>
            </a:r>
          </a:p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CLOUD AI SERVICES</a:t>
            </a:r>
          </a:p>
          <a:p>
            <a:pPr algn="ctr">
              <a:lnSpc>
                <a:spcPts val="3813"/>
              </a:lnSpc>
              <a:spcBef>
                <a:spcPct val="0"/>
              </a:spcBef>
            </a:pPr>
            <a:r>
              <a:rPr lang="en-US" sz="2724" u="sng">
                <a:solidFill>
                  <a:srgbClr val="0CC0DF"/>
                </a:solidFill>
                <a:latin typeface="Squada One"/>
                <a:ea typeface="Squada One"/>
                <a:cs typeface="Squada One"/>
                <a:sym typeface="Squada One"/>
              </a:rPr>
              <a:t>MODEL DEPLOYMENT (DOCKER, FASTAPI)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5142" y="4952417"/>
            <a:ext cx="7873652" cy="356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3"/>
              </a:lnSpc>
              <a:spcBef>
                <a:spcPct val="0"/>
              </a:spcBef>
            </a:pPr>
            <a:r>
              <a:rPr lang="en-US" sz="4059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HEALTHCARE</a:t>
            </a:r>
          </a:p>
          <a:p>
            <a:pPr algn="ctr">
              <a:lnSpc>
                <a:spcPts val="5683"/>
              </a:lnSpc>
              <a:spcBef>
                <a:spcPct val="0"/>
              </a:spcBef>
            </a:pPr>
            <a:r>
              <a:rPr lang="en-US" sz="4059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FINANCE, AUTOMOTIVE</a:t>
            </a:r>
          </a:p>
          <a:p>
            <a:pPr algn="ctr">
              <a:lnSpc>
                <a:spcPts val="5683"/>
              </a:lnSpc>
              <a:spcBef>
                <a:spcPct val="0"/>
              </a:spcBef>
            </a:pPr>
            <a:r>
              <a:rPr lang="en-US" sz="4059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E-COMMERCE, DEFENCE</a:t>
            </a:r>
          </a:p>
          <a:p>
            <a:pPr algn="ctr">
              <a:lnSpc>
                <a:spcPts val="5683"/>
              </a:lnSpc>
              <a:spcBef>
                <a:spcPct val="0"/>
              </a:spcBef>
            </a:pPr>
            <a:r>
              <a:rPr lang="en-US" sz="4059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AGRICULTURE, EDUCATION</a:t>
            </a:r>
          </a:p>
          <a:p>
            <a:pPr algn="ctr">
              <a:lnSpc>
                <a:spcPts val="5683"/>
              </a:lnSpc>
              <a:spcBef>
                <a:spcPct val="0"/>
              </a:spcBef>
            </a:pPr>
            <a:r>
              <a:rPr lang="en-US" sz="4059" u="sng">
                <a:solidFill>
                  <a:srgbClr val="35DBFF"/>
                </a:solidFill>
                <a:latin typeface="Squada One"/>
                <a:ea typeface="Squada One"/>
                <a:cs typeface="Squada One"/>
                <a:sym typeface="Squada One"/>
              </a:rPr>
              <a:t>CYBERSECURITY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86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5837" y="8983564"/>
            <a:ext cx="7315200" cy="1303436"/>
          </a:xfrm>
          <a:custGeom>
            <a:avLst/>
            <a:gdLst/>
            <a:ahLst/>
            <a:cxnLst/>
            <a:rect l="l" t="t" r="r" b="b"/>
            <a:pathLst>
              <a:path w="7315200" h="1303436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25630" y="8983564"/>
            <a:ext cx="7315200" cy="1303436"/>
          </a:xfrm>
          <a:custGeom>
            <a:avLst/>
            <a:gdLst/>
            <a:ahLst/>
            <a:cxnLst/>
            <a:rect l="l" t="t" r="r" b="b"/>
            <a:pathLst>
              <a:path w="7315200" h="1303436">
                <a:moveTo>
                  <a:pt x="0" y="0"/>
                </a:moveTo>
                <a:lnTo>
                  <a:pt x="7315200" y="0"/>
                </a:lnTo>
                <a:lnTo>
                  <a:pt x="7315200" y="1303436"/>
                </a:lnTo>
                <a:lnTo>
                  <a:pt x="0" y="130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2495" y="860058"/>
            <a:ext cx="15003010" cy="1218995"/>
          </a:xfrm>
          <a:custGeom>
            <a:avLst/>
            <a:gdLst/>
            <a:ahLst/>
            <a:cxnLst/>
            <a:rect l="l" t="t" r="r" b="b"/>
            <a:pathLst>
              <a:path w="15003010" h="1218995">
                <a:moveTo>
                  <a:pt x="0" y="0"/>
                </a:moveTo>
                <a:lnTo>
                  <a:pt x="15003010" y="0"/>
                </a:lnTo>
                <a:lnTo>
                  <a:pt x="15003010" y="1218995"/>
                </a:lnTo>
                <a:lnTo>
                  <a:pt x="0" y="12189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813401" y="2393867"/>
            <a:ext cx="16661197" cy="346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1"/>
              </a:lnSpc>
            </a:pPr>
            <a:r>
              <a:rPr lang="en-US" sz="25981" b="1" u="sng" spc="2831">
                <a:solidFill>
                  <a:srgbClr val="35DB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356</Words>
  <Application>Microsoft Office PowerPoint</Application>
  <PresentationFormat>Custom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Squada One</vt:lpstr>
      <vt:lpstr>Calibri</vt:lpstr>
      <vt:lpstr>Gulfs Display</vt:lpstr>
      <vt:lpstr>Montserrat</vt:lpstr>
      <vt:lpstr>The Seasons</vt:lpstr>
      <vt:lpstr>Arial</vt:lpstr>
      <vt:lpstr>Big Shoulders Display Bold</vt:lpstr>
      <vt:lpstr>Roboto</vt:lpstr>
      <vt:lpstr>Gagalin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cp:lastModifiedBy>Ujjawal Tiwari</cp:lastModifiedBy>
  <cp:revision>2</cp:revision>
  <dcterms:created xsi:type="dcterms:W3CDTF">2006-08-16T00:00:00Z</dcterms:created>
  <dcterms:modified xsi:type="dcterms:W3CDTF">2025-11-20T17:09:53Z</dcterms:modified>
  <dc:identifier>DAG5P6N669w</dc:identifier>
</cp:coreProperties>
</file>